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E4D4">
            <a:alpha val="10196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L University Hyderaba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ckground pattern&#10;&#10;Description automatically generated"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ctrTitle"/>
          </p:nvPr>
        </p:nvSpPr>
        <p:spPr>
          <a:xfrm>
            <a:off x="126600" y="1364575"/>
            <a:ext cx="119577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endParaRPr b="1" sz="4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  <a:r>
              <a:rPr lang="en-US" sz="2400"/>
              <a:t>Data Structures and Algorithms - 3 (25CS2103E)</a:t>
            </a: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 sz="3200"/>
              <a:t>Tree Network Analysis and Optimization System</a:t>
            </a:r>
            <a:endParaRPr b="1" sz="4000">
              <a:solidFill>
                <a:srgbClr val="C0000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 sz="2400"/>
              <a:t>Using Two-DFS and Tree Dynamic Programming</a:t>
            </a:r>
            <a:endParaRPr b="1" sz="4000">
              <a:solidFill>
                <a:srgbClr val="C00000"/>
              </a:solidFill>
            </a:endParaRPr>
          </a:p>
        </p:txBody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1705350" y="3435250"/>
            <a:ext cx="94572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>
                <a:solidFill>
                  <a:srgbClr val="0070C0"/>
                </a:solidFill>
              </a:rPr>
              <a:t>Team Members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>
                <a:solidFill>
                  <a:srgbClr val="0070C0"/>
                </a:solidFill>
              </a:rPr>
              <a:t>Name: U.Rohit Sai  </a:t>
            </a:r>
            <a:r>
              <a:rPr lang="en-US">
                <a:solidFill>
                  <a:srgbClr val="0070C0"/>
                </a:solidFill>
              </a:rPr>
              <a:t>                                           Roll no: 2520030030</a:t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>
                <a:solidFill>
                  <a:srgbClr val="0070C0"/>
                </a:solidFill>
              </a:rPr>
              <a:t> Name: P.Pratik Kumar                                      Roll no: 2520030034</a:t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lang="en-US">
                <a:solidFill>
                  <a:srgbClr val="0070C0"/>
                </a:solidFill>
              </a:rPr>
              <a:t> Name: MVSR.Hitesh                                        Roll no: 2520039621</a:t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Esteemed Guidance of   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b="1"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Dr CH ANURADHA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2600">
              <a:solidFill>
                <a:srgbClr val="0070C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600">
                <a:solidFill>
                  <a:srgbClr val="C00000"/>
                </a:solidFill>
              </a:rPr>
              <a:t> </a:t>
            </a:r>
            <a:endParaRPr b="1" sz="26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2660072" y="221673"/>
            <a:ext cx="687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478300" y="2715075"/>
            <a:ext cx="11623500" cy="4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Abstract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This project develops a Java-based Tree Network Analysis System that validates and analyzes an input tree represented with an adjacency list and supports trees of up to 1000 nodes.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The system displays the tree in the terminal, reports node degrees, leaf nodes and tree height, and finds the tree diameter using two independent approaches: Two-DFS and Tree Dynamic Programming.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Both algorithms reconstruct a valid diameter path and compare their diameter lengths. The project demonstrates a simple communication-network application of tree diameter.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96950" y="2697475"/>
            <a:ext cx="11359800" cy="4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Introduction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 tree is a connected, acyclic structure used to represent hierarchical relationships and network connections.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The diameter of a tree is the longest path between any two nodes. It is useful for studying maximum communication routes and routing distance in a tree-based network.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This project accepts a tree, validates it, displays its structure in the terminal, and performs basic tree analysis for trees of up to 1000 nodes.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The diameter is calculated independently using Two-DFS and Tree Dynamic Programming, then the results are compared and verified.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86850" y="738900"/>
            <a:ext cx="10835700" cy="6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Literature Survey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1. Competitive Programmer’s Handbook  [DIRECTLY RELEVANT]</a:t>
            </a:r>
            <a:endParaRPr b="1"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Reference: </a:t>
            </a:r>
            <a:r>
              <a:rPr lang="en-US" sz="1400">
                <a:solidFill>
                  <a:schemeClr val="dk1"/>
                </a:solidFill>
              </a:rPr>
              <a:t xml:space="preserve">Antti Laaksonen (2017) – handbook / reference, not a research paper.</a:t>
            </a:r>
            <a:endParaRPr sz="14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Key contribution: </a:t>
            </a:r>
            <a:r>
              <a:rPr lang="en-US" sz="1400">
                <a:solidFill>
                  <a:schemeClr val="dk1"/>
                </a:solidFill>
              </a:rPr>
              <a:t xml:space="preserve">The Tree Diameter section describes standard approaches for finding the longest path in a tree: Dynamic Programming and Two Depth-First Searches.</a:t>
            </a:r>
            <a:endParaRPr sz="14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Relevance: </a:t>
            </a:r>
            <a:r>
              <a:rPr lang="en-US" sz="1400">
                <a:solidFill>
                  <a:schemeClr val="dk1"/>
                </a:solidFill>
              </a:rPr>
              <a:t xml:space="preserve">Forms the algorithmic foundation of our project (Tree DP and Two-DFS).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2. Fast Dynamic Programming in Trees in the MPC Model  [BACKGROUND]</a:t>
            </a:r>
            <a:endParaRPr b="1"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Reference: </a:t>
            </a:r>
            <a:r>
              <a:rPr lang="en-US" sz="1400">
                <a:solidFill>
                  <a:schemeClr val="dk1"/>
                </a:solidFill>
              </a:rPr>
              <a:t xml:space="preserve">Chetan Gupta et al. (2023) – SPAA 2023.</a:t>
            </a:r>
            <a:endParaRPr sz="14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Key contribution: </a:t>
            </a:r>
            <a:r>
              <a:rPr lang="en-US" sz="1400">
                <a:solidFill>
                  <a:schemeClr val="dk1"/>
                </a:solidFill>
              </a:rPr>
              <a:t xml:space="preserve">Studies efficient Dynamic Programming techniques for tree structures and shows how subtree information can be processed systematically.</a:t>
            </a:r>
            <a:endParaRPr sz="14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Relevance: </a:t>
            </a:r>
            <a:r>
              <a:rPr lang="en-US" sz="1400">
                <a:solidFill>
                  <a:schemeClr val="dk1"/>
                </a:solidFill>
              </a:rPr>
              <a:t xml:space="preserve">Background supporting the use of Tree Dynamic Programming in our project.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3. Algorithms and Hardness for Diameter in Dynamic Graphs  [BACKGROUND]</a:t>
            </a:r>
            <a:endParaRPr b="1"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Reference: </a:t>
            </a:r>
            <a:r>
              <a:rPr lang="en-US" sz="1400">
                <a:solidFill>
                  <a:schemeClr val="dk1"/>
                </a:solidFill>
              </a:rPr>
              <a:t xml:space="preserve">Bertie Ancona et al. (2019) – ICALP 2019.</a:t>
            </a:r>
            <a:endParaRPr sz="14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Key contribution: </a:t>
            </a:r>
            <a:r>
              <a:rPr lang="en-US" sz="1400">
                <a:solidFill>
                  <a:schemeClr val="dk1"/>
                </a:solidFill>
              </a:rPr>
              <a:t xml:space="preserve">Studies algorithms related to graph diameter and provides background on efficient diameter computation.</a:t>
            </a:r>
            <a:endParaRPr sz="14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 sz="1400">
                <a:solidFill>
                  <a:schemeClr val="dk1"/>
                </a:solidFill>
              </a:rPr>
              <a:t>Relevance: </a:t>
            </a:r>
            <a:r>
              <a:rPr lang="en-US" sz="1400">
                <a:solidFill>
                  <a:schemeClr val="dk1"/>
                </a:solidFill>
              </a:rPr>
              <a:t xml:space="preserve">Supports the broader algorithmic motivation for studying diameter problems.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2660072" y="221673"/>
            <a:ext cx="6723625" cy="65579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660072" y="292694"/>
            <a:ext cx="687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 and Objectives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79200" y="850000"/>
            <a:ext cx="11746500" cy="1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Problem Statement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Given a tree with multiple nodes and edges, develop a system that validates its structure, analyzes its properties, and finds the longest path between any two nodes.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The system should display the tree, calculate its diameter using Two-DFS and Tree Dynamic Programming, compare the results, and demonstrate a simple network-routing application.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9200" y="2800000"/>
            <a:ext cx="120336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Objectives</a:t>
            </a:r>
            <a:endParaRPr b="1"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1. Represent a tree using an adjacency list.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2. Validate the input tree.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3. Display the tree structure in the terminal.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4. Analyze node degree, leaf nodes and tree height.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5. Find the tree diameter using Two-DFS.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6. Find the tree diameter using Tree Dynamic Programming.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7. Compare both algorithms and verify the diameter.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8. Demonstrate tree diameter in network routing.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Flow Chart</a:t>
            </a:r>
            <a:endParaRPr/>
          </a:p>
        </p:txBody>
      </p:sp>
      <p:sp>
        <p:nvSpPr>
          <p:cNvPr id="200" name="Flow Input"/>
          <p:cNvSpPr/>
          <p:nvPr/>
        </p:nvSpPr>
        <p:spPr>
          <a:xfrm>
            <a:off x="4394000" y="850000"/>
            <a:ext cx="3400000" cy="430000"/>
          </a:xfrm>
          <a:prstGeom prst="flowChartTerminator">
            <a:avLst/>
          </a:prstGeom>
          <a:solidFill>
            <a:srgbClr val="B6E8C0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Input</a:t>
            </a:r>
          </a:p>
        </p:txBody>
      </p:sp>
      <p:cxnSp>
        <p:nvCxnSpPr>
          <p:cNvPr id="300" name="Arrow 0"/>
          <p:cNvCxnSpPr>
            <a:stCxn id="200" idx="2"/>
            <a:endCxn id="201" idx="0"/>
          </p:cNvCxnSpPr>
          <p:nvPr/>
        </p:nvCxnSpPr>
        <p:spPr>
          <a:xfrm>
            <a:off x="6094000" y="1280000"/>
            <a:ext cx="0" cy="215000"/>
          </a:xfrm>
          <a:prstGeom prst="straightConnector1">
            <a:avLst/>
          </a:prstGeom>
          <a:ln w="15875">
            <a:solidFill>
              <a:srgbClr val="1C3052"/>
            </a:solidFill>
            <a:tailEnd type="triangle" w="med" len="med"/>
          </a:ln>
        </p:spPr>
      </p:cxnSp>
      <p:sp>
        <p:nvSpPr>
          <p:cNvPr id="201" name="Flow Tree Validation"/>
          <p:cNvSpPr/>
          <p:nvPr/>
        </p:nvSpPr>
        <p:spPr>
          <a:xfrm>
            <a:off x="4394000" y="1495000"/>
            <a:ext cx="3400000" cy="430000"/>
          </a:xfrm>
          <a:prstGeom prst="roundRect">
            <a:avLst/>
          </a:prstGeom>
          <a:solidFill>
            <a:srgbClr val="FFE599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Tree Validation</a:t>
            </a:r>
          </a:p>
        </p:txBody>
      </p:sp>
      <p:cxnSp>
        <p:nvCxnSpPr>
          <p:cNvPr id="301" name="Arrow 1"/>
          <p:cNvCxnSpPr>
            <a:stCxn id="201" idx="2"/>
            <a:endCxn id="202" idx="0"/>
          </p:cNvCxnSpPr>
          <p:nvPr/>
        </p:nvCxnSpPr>
        <p:spPr>
          <a:xfrm>
            <a:off x="6094000" y="1925000"/>
            <a:ext cx="0" cy="215000"/>
          </a:xfrm>
          <a:prstGeom prst="straightConnector1">
            <a:avLst/>
          </a:prstGeom>
          <a:ln w="15875">
            <a:solidFill>
              <a:srgbClr val="1C3052"/>
            </a:solidFill>
            <a:tailEnd type="triangle" w="med" len="med"/>
          </a:ln>
        </p:spPr>
      </p:cxnSp>
      <p:sp>
        <p:nvSpPr>
          <p:cNvPr id="202" name="Flow Tree Visualization"/>
          <p:cNvSpPr/>
          <p:nvPr/>
        </p:nvSpPr>
        <p:spPr>
          <a:xfrm>
            <a:off x="4394000" y="2140000"/>
            <a:ext cx="3400000" cy="430000"/>
          </a:xfrm>
          <a:prstGeom prst="roundRect">
            <a:avLst/>
          </a:prstGeom>
          <a:solidFill>
            <a:srgbClr val="BBD6FB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Tree Visualization</a:t>
            </a:r>
          </a:p>
        </p:txBody>
      </p:sp>
      <p:cxnSp>
        <p:nvCxnSpPr>
          <p:cNvPr id="302" name="Arrow 2"/>
          <p:cNvCxnSpPr>
            <a:stCxn id="202" idx="2"/>
            <a:endCxn id="203" idx="0"/>
          </p:cNvCxnSpPr>
          <p:nvPr/>
        </p:nvCxnSpPr>
        <p:spPr>
          <a:xfrm>
            <a:off x="6094000" y="2570000"/>
            <a:ext cx="0" cy="215000"/>
          </a:xfrm>
          <a:prstGeom prst="straightConnector1">
            <a:avLst/>
          </a:prstGeom>
          <a:ln w="15875">
            <a:solidFill>
              <a:srgbClr val="1C3052"/>
            </a:solidFill>
            <a:tailEnd type="triangle" w="med" len="med"/>
          </a:ln>
        </p:spPr>
      </p:cxnSp>
      <p:sp>
        <p:nvSpPr>
          <p:cNvPr id="203" name="Flow Tree Analysis"/>
          <p:cNvSpPr/>
          <p:nvPr/>
        </p:nvSpPr>
        <p:spPr>
          <a:xfrm>
            <a:off x="4394000" y="2785000"/>
            <a:ext cx="3400000" cy="430000"/>
          </a:xfrm>
          <a:prstGeom prst="roundRect">
            <a:avLst/>
          </a:prstGeom>
          <a:solidFill>
            <a:srgbClr val="BBD6FB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Tree Analysis</a:t>
            </a:r>
          </a:p>
        </p:txBody>
      </p:sp>
      <p:cxnSp>
        <p:nvCxnSpPr>
          <p:cNvPr id="303" name="Arrow 3"/>
          <p:cNvCxnSpPr>
            <a:stCxn id="203" idx="2"/>
            <a:endCxn id="204" idx="0"/>
          </p:cNvCxnSpPr>
          <p:nvPr/>
        </p:nvCxnSpPr>
        <p:spPr>
          <a:xfrm>
            <a:off x="6094000" y="3215000"/>
            <a:ext cx="0" cy="215000"/>
          </a:xfrm>
          <a:prstGeom prst="straightConnector1">
            <a:avLst/>
          </a:prstGeom>
          <a:ln w="15875">
            <a:solidFill>
              <a:srgbClr val="1C3052"/>
            </a:solidFill>
            <a:tailEnd type="triangle" w="med" len="med"/>
          </a:ln>
        </p:spPr>
      </p:cxnSp>
      <p:sp>
        <p:nvSpPr>
          <p:cNvPr id="204" name="Flow Two-DFS Diameter"/>
          <p:cNvSpPr/>
          <p:nvPr/>
        </p:nvSpPr>
        <p:spPr>
          <a:xfrm>
            <a:off x="4394000" y="3430000"/>
            <a:ext cx="3400000" cy="430000"/>
          </a:xfrm>
          <a:prstGeom prst="roundRect">
            <a:avLst/>
          </a:prstGeom>
          <a:solidFill>
            <a:srgbClr val="BBD6FB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Two-DFS Diameter</a:t>
            </a:r>
          </a:p>
        </p:txBody>
      </p:sp>
      <p:cxnSp>
        <p:nvCxnSpPr>
          <p:cNvPr id="304" name="Arrow 4"/>
          <p:cNvCxnSpPr>
            <a:stCxn id="204" idx="2"/>
            <a:endCxn id="205" idx="0"/>
          </p:cNvCxnSpPr>
          <p:nvPr/>
        </p:nvCxnSpPr>
        <p:spPr>
          <a:xfrm>
            <a:off x="6094000" y="3860000"/>
            <a:ext cx="0" cy="215000"/>
          </a:xfrm>
          <a:prstGeom prst="straightConnector1">
            <a:avLst/>
          </a:prstGeom>
          <a:ln w="15875">
            <a:solidFill>
              <a:srgbClr val="1C3052"/>
            </a:solidFill>
            <a:tailEnd type="triangle" w="med" len="med"/>
          </a:ln>
        </p:spPr>
      </p:cxnSp>
      <p:sp>
        <p:nvSpPr>
          <p:cNvPr id="205" name="Flow Tree DP Diameter"/>
          <p:cNvSpPr/>
          <p:nvPr/>
        </p:nvSpPr>
        <p:spPr>
          <a:xfrm>
            <a:off x="4394000" y="4075000"/>
            <a:ext cx="3400000" cy="430000"/>
          </a:xfrm>
          <a:prstGeom prst="roundRect">
            <a:avLst/>
          </a:prstGeom>
          <a:solidFill>
            <a:srgbClr val="BBD6FB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Tree DP Diameter</a:t>
            </a:r>
          </a:p>
        </p:txBody>
      </p:sp>
      <p:cxnSp>
        <p:nvCxnSpPr>
          <p:cNvPr id="305" name="Arrow 5"/>
          <p:cNvCxnSpPr>
            <a:stCxn id="205" idx="2"/>
            <a:endCxn id="206" idx="0"/>
          </p:cNvCxnSpPr>
          <p:nvPr/>
        </p:nvCxnSpPr>
        <p:spPr>
          <a:xfrm>
            <a:off x="6094000" y="4505000"/>
            <a:ext cx="0" cy="215000"/>
          </a:xfrm>
          <a:prstGeom prst="straightConnector1">
            <a:avLst/>
          </a:prstGeom>
          <a:ln w="15875">
            <a:solidFill>
              <a:srgbClr val="1C3052"/>
            </a:solidFill>
            <a:tailEnd type="triangle" w="med" len="med"/>
          </a:ln>
        </p:spPr>
      </p:cxnSp>
      <p:sp>
        <p:nvSpPr>
          <p:cNvPr id="206" name="Flow Comparison / Verification"/>
          <p:cNvSpPr/>
          <p:nvPr/>
        </p:nvSpPr>
        <p:spPr>
          <a:xfrm>
            <a:off x="4394000" y="4720000"/>
            <a:ext cx="3400000" cy="430000"/>
          </a:xfrm>
          <a:prstGeom prst="roundRect">
            <a:avLst/>
          </a:prstGeom>
          <a:solidFill>
            <a:srgbClr val="D9CCF5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Comparison / Verification</a:t>
            </a:r>
          </a:p>
        </p:txBody>
      </p:sp>
      <p:cxnSp>
        <p:nvCxnSpPr>
          <p:cNvPr id="306" name="Arrow 6"/>
          <p:cNvCxnSpPr>
            <a:stCxn id="206" idx="2"/>
            <a:endCxn id="207" idx="0"/>
          </p:cNvCxnSpPr>
          <p:nvPr/>
        </p:nvCxnSpPr>
        <p:spPr>
          <a:xfrm>
            <a:off x="6094000" y="5150000"/>
            <a:ext cx="0" cy="215000"/>
          </a:xfrm>
          <a:prstGeom prst="straightConnector1">
            <a:avLst/>
          </a:prstGeom>
          <a:ln w="15875">
            <a:solidFill>
              <a:srgbClr val="1C3052"/>
            </a:solidFill>
            <a:tailEnd type="triangle" w="med" len="med"/>
          </a:ln>
        </p:spPr>
      </p:cxnSp>
      <p:sp>
        <p:nvSpPr>
          <p:cNvPr id="207" name="Flow Network Application"/>
          <p:cNvSpPr/>
          <p:nvPr/>
        </p:nvSpPr>
        <p:spPr>
          <a:xfrm>
            <a:off x="4394000" y="5365000"/>
            <a:ext cx="3400000" cy="430000"/>
          </a:xfrm>
          <a:prstGeom prst="roundRect">
            <a:avLst/>
          </a:prstGeom>
          <a:solidFill>
            <a:srgbClr val="BBD6FB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Network Application</a:t>
            </a:r>
          </a:p>
        </p:txBody>
      </p:sp>
      <p:cxnSp>
        <p:nvCxnSpPr>
          <p:cNvPr id="307" name="Arrow 7"/>
          <p:cNvCxnSpPr>
            <a:stCxn id="207" idx="2"/>
            <a:endCxn id="208" idx="0"/>
          </p:cNvCxnSpPr>
          <p:nvPr/>
        </p:nvCxnSpPr>
        <p:spPr>
          <a:xfrm>
            <a:off x="6094000" y="5795000"/>
            <a:ext cx="0" cy="215000"/>
          </a:xfrm>
          <a:prstGeom prst="straightConnector1">
            <a:avLst/>
          </a:prstGeom>
          <a:ln w="15875">
            <a:solidFill>
              <a:srgbClr val="1C3052"/>
            </a:solidFill>
            <a:tailEnd type="triangle" w="med" len="med"/>
          </a:ln>
        </p:spPr>
      </p:cxnSp>
      <p:sp>
        <p:nvSpPr>
          <p:cNvPr id="208" name="Flow End"/>
          <p:cNvSpPr/>
          <p:nvPr/>
        </p:nvSpPr>
        <p:spPr>
          <a:xfrm>
            <a:off x="4394000" y="6010000"/>
            <a:ext cx="3400000" cy="430000"/>
          </a:xfrm>
          <a:prstGeom prst="flowChartTerminator">
            <a:avLst/>
          </a:prstGeom>
          <a:solidFill>
            <a:srgbClr val="B6E8C0"/>
          </a:solidFill>
          <a:ln w="12700">
            <a:solidFill>
              <a:srgbClr val="1C3052"/>
            </a:solidFill>
          </a:ln>
        </p:spPr>
        <p:txBody>
          <a:bodyPr anchor="ctr" lIns="45700" rIns="45700" tIns="22850" bIns="22850" wrap="square">
            <a:noAutofit/>
          </a:bodyPr>
          <a:lstStyle/>
          <a:p>
            <a:pPr algn="ctr">
              <a:buNone/>
            </a:pPr>
            <a:r>
              <a:rPr lang="en-US" sz="1500" b="1">
                <a:solidFill>
                  <a:srgbClr val="1C3052"/>
                </a:solidFill>
                <a:latin typeface="Calibri"/>
              </a:rPr>
              <a:t>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2660072" y="193965"/>
            <a:ext cx="6871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720950" y="1283675"/>
            <a:ext cx="992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2950000" y="800000"/>
            <a:ext cx="5100000" cy="5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Sample Input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Nodes: 5   |   Edges: 1-2, 2-3, 2-4, 4-5</a:t>
            </a: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Tree Analysis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Degrees: 1→1, 2→3, 3→1, 4→2, 5→1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Leaf Nodes: 3   |   Tree Height: 3</a:t>
            </a: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Two-DFS Diameter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Path: 5 → 4 → 2 → 1   |   Length: 3 edges</a:t>
            </a: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Tree DP Diameter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Path: 5 → 4 → 2 → 3   |   Length: 3 edges</a:t>
            </a: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Verification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Both algorithms produced the same diameter length: 3 edges.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The paths differ, but both are valid longest paths.</a:t>
            </a: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Network Application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Longest communication route: 3 hops (5 to 1 / 5 to 3)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Suggested central server nodes: 2 and 4</a:t>
            </a: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Tree displayed in the terminal (right).</a:t>
            </a:r>
          </a:p>
        </p:txBody>
      </p:sp>
      <p:sp>
        <p:nvSpPr>
          <p:cNvPr id="129" name="Google Shape;129;p19"/>
          <p:cNvSpPr txBox="1"/>
          <p:nvPr/>
        </p:nvSpPr>
        <p:spPr>
          <a:xfrm>
            <a:off x="8500000" y="900000"/>
            <a:ext cx="3700000" cy="2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cs typeface="Courier New"/>
              </a:rPr>
              <a:t xml:space="preserve">        1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cs typeface="Courier New"/>
              </a:rPr>
              <a:t xml:space="preserve">        |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cs typeface="Courier New"/>
              </a:rPr>
              <a:t xml:space="preserve">        2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cs typeface="Courier New"/>
              </a:rPr>
              <a:t xml:space="preserve">       / \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cs typeface="Courier New"/>
              </a:rPr>
              <a:t xml:space="preserve">      3   4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cs typeface="Courier New"/>
              </a:rPr>
              <a:t xml:space="preserve">          |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cs typeface="Courier New"/>
              </a:rPr>
              <a:t xml:space="preserve">          5</a:t>
            </a:r>
          </a:p>
        </p:txBody>
      </p:sp>
      <p:sp>
        <p:nvSpPr>
          <p:cNvPr id="130" name="Google Shape;130;p19"/>
          <p:cNvSpPr/>
          <p:nvPr/>
        </p:nvSpPr>
        <p:spPr>
          <a:xfrm>
            <a:off x="9750200" y="3241400"/>
            <a:ext cx="399600" cy="51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9750200" y="3991400"/>
            <a:ext cx="399600" cy="51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9150200" y="4741400"/>
            <a:ext cx="399600" cy="51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10350200" y="4741400"/>
            <a:ext cx="399600" cy="51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10350200" y="5491400"/>
            <a:ext cx="399600" cy="517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150" name="Edge 130-131"/>
          <p:cNvCxnSpPr/>
          <p:nvPr/>
        </p:nvCxnSpPr>
        <p:spPr>
          <a:xfrm>
            <a:off x="9950000" y="3758600"/>
            <a:ext cx="0" cy="232800"/>
          </a:xfrm>
          <a:prstGeom prst="lin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</a:ln>
        </p:spPr>
      </p:cxnSp>
      <p:cxnSp>
        <p:nvCxnSpPr>
          <p:cNvPr id="151" name="Edge 131-132"/>
          <p:cNvCxnSpPr/>
          <p:nvPr/>
        </p:nvCxnSpPr>
        <p:spPr>
          <a:xfrm flipH="1">
            <a:off x="9350000" y="4508600"/>
            <a:ext cx="600000" cy="232800"/>
          </a:xfrm>
          <a:prstGeom prst="lin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</a:ln>
        </p:spPr>
      </p:cxnSp>
      <p:cxnSp>
        <p:nvCxnSpPr>
          <p:cNvPr id="152" name="Edge 131-133"/>
          <p:cNvCxnSpPr/>
          <p:nvPr/>
        </p:nvCxnSpPr>
        <p:spPr>
          <a:xfrm>
            <a:off x="9950000" y="4508600"/>
            <a:ext cx="600000" cy="232800"/>
          </a:xfrm>
          <a:prstGeom prst="lin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</a:ln>
        </p:spPr>
      </p:cxnSp>
      <p:cxnSp>
        <p:nvCxnSpPr>
          <p:cNvPr id="153" name="Edge 133-134"/>
          <p:cNvCxnSpPr/>
          <p:nvPr/>
        </p:nvCxnSpPr>
        <p:spPr>
          <a:xfrm>
            <a:off x="10550000" y="5258600"/>
            <a:ext cx="0" cy="232800"/>
          </a:xfrm>
          <a:prstGeom prst="lin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/>
        </p:nvSpPr>
        <p:spPr>
          <a:xfrm>
            <a:off x="3654372" y="262038"/>
            <a:ext cx="6420000" cy="6039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3547840" y="302403"/>
            <a:ext cx="6871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Hardware and Software requirements</a:t>
            </a:r>
            <a:endParaRPr b="1" sz="3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0" y="1726125"/>
            <a:ext cx="7226700" cy="50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Hardware Requirements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Computer / Laptop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Minimum 4 GB RAM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Keyboard and Mouse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Monitor / Display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Software Requirements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Windows / Linux / macOS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Java / JDK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VS Code / IntelliJ IDEA / Eclipse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Adjacency List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DFS and Tree Dynamic Programming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175850" y="2743200"/>
            <a:ext cx="120162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Conclusion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The project demonstrates practical applications of tree data structures and algorithms.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The system validates and analyzes an input tree and displays its structure in the terminal.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Tree diameter is calculated independently using Two-DFS and Tree Dynamic Programming.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Both algorithms produce the same diameter length, while valid paths may differ when multiple longest paths exist.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The project demonstrates how tree diameter can support communication and routing analysis.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Future Scope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231550" y="2623650"/>
            <a:ext cx="10431300" cy="3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Future Scope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Support weighted trees.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Support larger tree datasets.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Add more advanced tree algorithms.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Add performance comparison for large inputs.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Improve terminal visualization for complex trees.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Extend network and routing optimization features.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Develop a graphical/web interface in the future.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>
            <a:off x="3736107" y="2619376"/>
            <a:ext cx="4946253" cy="135782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